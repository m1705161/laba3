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72FF"/>
                </a:solidFill>
                <a:latin typeface="Play"/>
              </a:rPr>
              <a:t>ГАЙД 4 · ЛАБОРАТОРНАЯ РАБОТА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000000"/>
                </a:solidFill>
                <a:latin typeface="Play"/>
              </a:rPr>
              <a:t>SCD Type 2 на CDC-потоке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0604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2272FF"/>
                </a:solidFill>
                <a:latin typeface="Arial"/>
              </a:rPr>
              <a:t>PostgreSQL  →  Debezium  →  Kafka  →  Spark  →  Iceberg  →  Trino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461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НИТУ МИСИС · Осень 2026 · 3 ак. ч</a:t>
            </a:r>
          </a:p>
        </p:txBody>
      </p:sp>
      <p:sp>
        <p:nvSpPr>
          <p:cNvPr id="7" name="Rectangle 6"/>
          <p:cNvSpPr/>
          <p:nvPr/>
        </p:nvSpPr>
        <p:spPr>
          <a:xfrm>
            <a:off x="691743" y="4480560"/>
            <a:ext cx="1572768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607" y="462686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607" y="52212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WAL / pgoutput</a:t>
            </a:r>
          </a:p>
        </p:txBody>
      </p:sp>
      <p:sp>
        <p:nvSpPr>
          <p:cNvPr id="10" name="Chevron 9"/>
          <p:cNvSpPr/>
          <p:nvPr/>
        </p:nvSpPr>
        <p:spPr>
          <a:xfrm>
            <a:off x="2264511" y="485089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38831" y="4480560"/>
            <a:ext cx="1572768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3695" y="462686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Debezium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3695" y="52212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читает WAL</a:t>
            </a:r>
          </a:p>
        </p:txBody>
      </p:sp>
      <p:sp>
        <p:nvSpPr>
          <p:cNvPr id="14" name="Chevron 13"/>
          <p:cNvSpPr/>
          <p:nvPr/>
        </p:nvSpPr>
        <p:spPr>
          <a:xfrm>
            <a:off x="4111599" y="485089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5919" y="4480560"/>
            <a:ext cx="1572768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0783" y="462686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0783" y="52212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транспорт</a:t>
            </a:r>
          </a:p>
        </p:txBody>
      </p:sp>
      <p:sp>
        <p:nvSpPr>
          <p:cNvPr id="18" name="Chevron 17"/>
          <p:cNvSpPr/>
          <p:nvPr/>
        </p:nvSpPr>
        <p:spPr>
          <a:xfrm>
            <a:off x="5958687" y="485089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4480560"/>
            <a:ext cx="1572768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871" y="462686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Spark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7871" y="52212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SCD2 / MERGE</a:t>
            </a:r>
          </a:p>
        </p:txBody>
      </p:sp>
      <p:sp>
        <p:nvSpPr>
          <p:cNvPr id="22" name="Chevron 21"/>
          <p:cNvSpPr/>
          <p:nvPr/>
        </p:nvSpPr>
        <p:spPr>
          <a:xfrm>
            <a:off x="7805775" y="485089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0095" y="4480560"/>
            <a:ext cx="1572768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4959" y="462686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Iceberg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4959" y="52212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Lakekeeper</a:t>
            </a:r>
          </a:p>
        </p:txBody>
      </p:sp>
      <p:sp>
        <p:nvSpPr>
          <p:cNvPr id="26" name="Chevron 25"/>
          <p:cNvSpPr/>
          <p:nvPr/>
        </p:nvSpPr>
        <p:spPr>
          <a:xfrm>
            <a:off x="9652863" y="485089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7183" y="4480560"/>
            <a:ext cx="1572768" cy="11430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82047" y="4626864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Trino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2047" y="52212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SQL / Time Travel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146304" cy="402336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7548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Play"/>
              </a:rPr>
              <a:t>Три понятия, которые связывает лабораторная работа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3502152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502152" cy="109728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79191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00000"/>
                </a:solidFill>
                <a:latin typeface="Play"/>
              </a:rPr>
              <a:t>CDC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Arial"/>
              </a:rPr>
              <a:t>Change Data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30168"/>
            <a:ext cx="286207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000000"/>
                </a:solidFill>
                <a:latin typeface="Arial"/>
              </a:rPr>
              <a:t>Читаем журнал (WAL) PostgreSQL и получаем только реально изменившиеся строки — без перечитывания всей таблицы.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508760"/>
            <a:ext cx="3502152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3502152" cy="109728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1965960"/>
            <a:ext cx="566928" cy="56692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1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00000"/>
                </a:solidFill>
                <a:latin typeface="Play"/>
              </a:rPr>
              <a:t>SCD Type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4612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Arial"/>
              </a:rPr>
              <a:t>история строки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30168"/>
            <a:ext cx="286207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000000"/>
                </a:solidFill>
                <a:latin typeface="Arial"/>
              </a:rPr>
              <a:t>При изменении строку не перетираем, а добавляем новую версию с колонками valid_from / valid_to / is_current.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08760"/>
            <a:ext cx="3502152" cy="3657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3502152" cy="109728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8200" y="1965960"/>
            <a:ext cx="566928" cy="56692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679191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000000"/>
                </a:solidFill>
                <a:latin typeface="Play"/>
              </a:rPr>
              <a:t>Time Travel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24612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Arial"/>
              </a:rPr>
              <a:t>снимок на момент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630168"/>
            <a:ext cx="2862072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000000"/>
                </a:solidFill>
                <a:latin typeface="Arial"/>
              </a:rPr>
              <a:t>Iceberg читает таблицу на прошлый снапшот: FOR VERSION AS OF / FOR TIMESTAMP AS OF.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Гайд 4 · SCD Type 2 на CDC-потоке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146304" cy="402336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" y="475488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Play"/>
              </a:rPr>
              <a:t>Стенд: шесть компонентов в одном потоке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27151" y="2148840"/>
            <a:ext cx="1627632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2015" y="2295144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015" y="311810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WAL / pgoutput</a:t>
            </a:r>
          </a:p>
        </p:txBody>
      </p:sp>
      <p:sp>
        <p:nvSpPr>
          <p:cNvPr id="7" name="Chevron 6"/>
          <p:cNvSpPr/>
          <p:nvPr/>
        </p:nvSpPr>
        <p:spPr>
          <a:xfrm>
            <a:off x="2154783" y="263347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9103" y="2148840"/>
            <a:ext cx="1627632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3967" y="2295144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Debezium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3967" y="311810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читает WAL</a:t>
            </a:r>
          </a:p>
        </p:txBody>
      </p:sp>
      <p:sp>
        <p:nvSpPr>
          <p:cNvPr id="11" name="Chevron 10"/>
          <p:cNvSpPr/>
          <p:nvPr/>
        </p:nvSpPr>
        <p:spPr>
          <a:xfrm>
            <a:off x="4056735" y="263347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1055" y="2148840"/>
            <a:ext cx="1627632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5919" y="2295144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Kafka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5919" y="311810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транспорт</a:t>
            </a:r>
          </a:p>
        </p:txBody>
      </p:sp>
      <p:sp>
        <p:nvSpPr>
          <p:cNvPr id="15" name="Chevron 14"/>
          <p:cNvSpPr/>
          <p:nvPr/>
        </p:nvSpPr>
        <p:spPr>
          <a:xfrm>
            <a:off x="5958687" y="263347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2148840"/>
            <a:ext cx="1627632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7871" y="2295144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Spark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7871" y="311810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SCD2 / MERGE</a:t>
            </a:r>
          </a:p>
        </p:txBody>
      </p:sp>
      <p:sp>
        <p:nvSpPr>
          <p:cNvPr id="19" name="Chevron 18"/>
          <p:cNvSpPr/>
          <p:nvPr/>
        </p:nvSpPr>
        <p:spPr>
          <a:xfrm>
            <a:off x="7860639" y="263347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4959" y="2148840"/>
            <a:ext cx="1627632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9823" y="2295144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Iceberg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9823" y="311810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Lakekeeper</a:t>
            </a:r>
          </a:p>
        </p:txBody>
      </p:sp>
      <p:sp>
        <p:nvSpPr>
          <p:cNvPr id="23" name="Chevron 22"/>
          <p:cNvSpPr/>
          <p:nvPr/>
        </p:nvSpPr>
        <p:spPr>
          <a:xfrm>
            <a:off x="9762591" y="2633472"/>
            <a:ext cx="274320" cy="402336"/>
          </a:xfrm>
          <a:prstGeom prst="chevron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36911" y="2148840"/>
            <a:ext cx="1627632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2272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1775" y="2295144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Play"/>
              </a:rPr>
              <a:t>Trino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1775" y="3118104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SQL / Time Travel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977639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Базовый Lakehouse </a:t>
            </a:r>
            <a:r>
              <a:rPr sz="1500" b="0" i="0">
                <a:solidFill>
                  <a:srgbClr val="000000"/>
                </a:solidFill>
                <a:latin typeface="Arial"/>
              </a:rPr>
              <a:t>(MinIO/Silo + Lakekeeper + Trino) поднимаем в §1.5 — поверх него строим поток изменений.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43484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000000"/>
                </a:solidFill>
                <a:latin typeface="Arial"/>
              </a:rPr>
              <a:t>Объектное хранилище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MinIO (форк Silo) — файлы Parquet таблиц.</a:t>
            </a:r>
          </a:p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000000"/>
                </a:solidFill>
                <a:latin typeface="Arial"/>
              </a:rPr>
              <a:t>Каталог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Lakekeeper (REST) — метаданные Iceberg.</a:t>
            </a:r>
          </a:p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000000"/>
                </a:solidFill>
                <a:latin typeface="Arial"/>
              </a:rPr>
              <a:t>Движок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Trino — SQL-запросы и Time Travel.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Гайд 4 · SCD Type 2 на CDC-потоке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Play"/>
              </a:rPr>
              <a:t>ХОД ЗАНЯТИЯ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46304" cy="402336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621792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Play"/>
              </a:rPr>
              <a:t>План на 3 часа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11057839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834640"/>
                <a:gridCol w="662299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Время</a:t>
                      </a:r>
                    </a:p>
                  </a:txBody>
                  <a:tcPr anchor="ctr" marL="137160" marT="27432" marB="27432">
                    <a:solidFill>
                      <a:srgbClr val="227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Блок</a:t>
                      </a:r>
                    </a:p>
                  </a:txBody>
                  <a:tcPr anchor="ctr" marL="137160" marT="27432" marB="27432">
                    <a:solidFill>
                      <a:srgbClr val="227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Что делаем</a:t>
                      </a:r>
                    </a:p>
                  </a:txBody>
                  <a:tcPr anchor="ctr" marL="137160" marT="27432" marB="27432">
                    <a:solidFill>
                      <a:srgbClr val="2272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D47A1"/>
                          </a:solidFill>
                          <a:latin typeface="Play"/>
                        </a:rPr>
                        <a:t>0:00–0:15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Разминка + базовый стек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95959"/>
                          </a:solidFill>
                          <a:latin typeface="Arial"/>
                        </a:rPr>
                        <a:t>MinIO / Lakekeeper / Trino; понимаем CDC, SCD2, Time Travel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D47A1"/>
                          </a:solidFill>
                          <a:latin typeface="Play"/>
                        </a:rPr>
                        <a:t>0:15–0:40</a:t>
                      </a:r>
                    </a:p>
                  </a:txBody>
                  <a:tcPr anchor="ctr" marL="13716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Хранилище + источник</a:t>
                      </a:r>
                    </a:p>
                  </a:txBody>
                  <a:tcPr anchor="ctr" marL="13716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95959"/>
                          </a:solidFill>
                          <a:latin typeface="Arial"/>
                        </a:rPr>
                        <a:t>бакет/warehouse scd; PostgreSQL-источник с таблицей customers</a:t>
                      </a:r>
                    </a:p>
                  </a:txBody>
                  <a:tcPr anchor="ctr" marL="13716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D47A1"/>
                          </a:solidFill>
                          <a:latin typeface="Play"/>
                        </a:rPr>
                        <a:t>0:40–1:10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CDC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95959"/>
                          </a:solidFill>
                          <a:latin typeface="Arial"/>
                        </a:rPr>
                        <a:t>Kafka (KRaft) + Debezium Connect + коннектор → события в топике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D47A1"/>
                          </a:solidFill>
                          <a:latin typeface="Play"/>
                        </a:rPr>
                        <a:t>1:10–1:50</a:t>
                      </a:r>
                    </a:p>
                  </a:txBody>
                  <a:tcPr anchor="ctr" marL="13716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Spark-поток</a:t>
                      </a:r>
                    </a:p>
                  </a:txBody>
                  <a:tcPr anchor="ctr" marL="13716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95959"/>
                          </a:solidFill>
                          <a:latin typeface="Arial"/>
                        </a:rPr>
                        <a:t>jar'ы, spark-defaults.conf, джоба scd2.py → строки в Iceberg</a:t>
                      </a:r>
                    </a:p>
                  </a:txBody>
                  <a:tcPr anchor="ctr" marL="13716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D47A1"/>
                          </a:solidFill>
                          <a:latin typeface="Play"/>
                        </a:rPr>
                        <a:t>1:50–2:20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Наблюдение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95959"/>
                          </a:solidFill>
                          <a:latin typeface="Arial"/>
                        </a:rPr>
                        <a:t>скрипт изменений, смотрим SCD2-историю (6 версий)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D47A1"/>
                          </a:solidFill>
                          <a:latin typeface="Play"/>
                        </a:rPr>
                        <a:t>2:20–2:45</a:t>
                      </a:r>
                    </a:p>
                  </a:txBody>
                  <a:tcPr anchor="ctr" marL="13716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Time Travel</a:t>
                      </a:r>
                    </a:p>
                  </a:txBody>
                  <a:tcPr anchor="ctr" marL="13716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95959"/>
                          </a:solidFill>
                          <a:latin typeface="Arial"/>
                        </a:rPr>
                        <a:t>снапшоты, FOR VERSION / TIMESTAMP AS OF</a:t>
                      </a:r>
                    </a:p>
                  </a:txBody>
                  <a:tcPr anchor="ctr" marL="137160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D47A1"/>
                          </a:solidFill>
                          <a:latin typeface="Play"/>
                        </a:rPr>
                        <a:t>2:45–3:00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  <a:latin typeface="Arial"/>
                        </a:rPr>
                        <a:t>Итоги + уборка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95959"/>
                          </a:solidFill>
                          <a:latin typeface="Arial"/>
                        </a:rPr>
                        <a:t>вопросы §11, очистка §13</a:t>
                      </a:r>
                    </a:p>
                  </a:txBody>
                  <a:tcPr anchor="ctr" marL="137160" marT="27432" marB="27432"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Гайд 4 · SCD Type 2 на CDC-потоке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Play"/>
              </a:rPr>
              <a:t>ЭТАПЫ 1–4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46304" cy="402336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621792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Play"/>
              </a:rPr>
              <a:t>Захват: от хранилища до событий в Kafka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0"/>
            <a:ext cx="11057839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1700784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Play"/>
              </a:rPr>
              <a:t>Хранилище scd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1700784"/>
            <a:ext cx="49313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95959"/>
                </a:solidFill>
                <a:latin typeface="Arial"/>
              </a:rPr>
              <a:t>свой бакет, warehouse и каталог в Lakekeeper (§2)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70632"/>
            <a:ext cx="11057839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953512"/>
            <a:ext cx="566928" cy="56692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2916936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Play"/>
              </a:rPr>
              <a:t>PostgreSQL-источник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916936"/>
            <a:ext cx="49313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95959"/>
                </a:solidFill>
                <a:latin typeface="Arial"/>
              </a:rPr>
              <a:t>таблица customers, wal_level=logical, порт 5433 (§3)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986784"/>
            <a:ext cx="11057839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4169664"/>
            <a:ext cx="566928" cy="56692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413308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Play"/>
              </a:rPr>
              <a:t>Kafka (KRaft)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133088"/>
            <a:ext cx="49313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95959"/>
                </a:solidFill>
                <a:latin typeface="Arial"/>
              </a:rPr>
              <a:t>один брокер, топик cdc.public.customers, порт 9092 (§4)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202936"/>
            <a:ext cx="11057839" cy="932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5385816"/>
            <a:ext cx="566928" cy="56692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Play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53492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Play"/>
              </a:rPr>
              <a:t>Debezium 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5349240"/>
            <a:ext cx="49313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95959"/>
                </a:solidFill>
                <a:latin typeface="Arial"/>
              </a:rPr>
              <a:t>коннектор читает WAL, события видны в топике (§5–6)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Гайд 4 · SCD Type 2 на CDC-потоке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Play"/>
              </a:rPr>
              <a:t>ЭТАПЫ 5–6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46304" cy="402336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621792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Play"/>
              </a:rPr>
              <a:t>SCD Type 2 в Spark: foreachBatch + два MERGE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39496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09728" cy="2331720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Play"/>
              </a:rPr>
              <a:t>(a) Закрыть текущую версию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585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Arial"/>
              </a:rPr>
              <a:t>для UPDATE и DELETE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5176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00000"/>
                </a:solidFill>
                <a:latin typeface="Consolas"/>
              </a:rPr>
              <a:t>MERGE ... WHEN MATCHED THEN UPDATE
valid_to = время события, is_current =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600200"/>
            <a:ext cx="539496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600200"/>
            <a:ext cx="109728" cy="2331720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7830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Play"/>
              </a:rPr>
              <a:t>(b) Вставить новую версию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2585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Arial"/>
              </a:rPr>
              <a:t>для INSERT / UPDATE /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65176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000000"/>
                </a:solidFill>
                <a:latin typeface="Consolas"/>
              </a:rPr>
              <a:t>MERGE ... WHEN NOT MATCHED THEN INSERT
valid_from = время события, is_current =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2976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Схема SCD2:  </a:t>
            </a:r>
            <a:r>
              <a:rPr sz="1500" b="0" i="0">
                <a:solidFill>
                  <a:srgbClr val="000000"/>
                </a:solidFill>
                <a:latin typeface="Consolas"/>
              </a:rPr>
              <a:t>id · name · city · valid_from · valid_to · is_current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0060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95959"/>
                </a:solidFill>
                <a:latin typeface="Arial"/>
              </a:rPr>
              <a:t>Каждая строка — версия. Актуальная версия: is_current = true и valid_to пусто. История никогда не перетирается.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Гайд 4 · SCD Type 2 на CDC-потоке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Play"/>
              </a:rPr>
              <a:t>ЭТАПЫ 7–9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46304" cy="402336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621792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Play"/>
              </a:rPr>
              <a:t>Результат: SCD2-история + Time Travel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371600"/>
          <a:ext cx="5806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914400"/>
                <a:gridCol w="1508760"/>
                <a:gridCol w="960120"/>
                <a:gridCol w="914400"/>
                <a:gridCol w="10515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ay"/>
                        </a:rPr>
                        <a:t>id</a:t>
                      </a:r>
                    </a:p>
                  </a:txBody>
                  <a:tcPr anchor="ctr" marL="73152" marT="18288" marB="18288">
                    <a:solidFill>
                      <a:srgbClr val="227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ay"/>
                        </a:rPr>
                        <a:t>name</a:t>
                      </a:r>
                    </a:p>
                  </a:txBody>
                  <a:tcPr anchor="ctr" marL="73152" marT="18288" marB="18288">
                    <a:solidFill>
                      <a:srgbClr val="227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ay"/>
                        </a:rPr>
                        <a:t>city</a:t>
                      </a:r>
                    </a:p>
                  </a:txBody>
                  <a:tcPr anchor="ctr" marL="73152" marT="18288" marB="18288">
                    <a:solidFill>
                      <a:srgbClr val="227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ay"/>
                        </a:rPr>
                        <a:t>valid_from</a:t>
                      </a:r>
                    </a:p>
                  </a:txBody>
                  <a:tcPr anchor="ctr" marL="73152" marT="18288" marB="18288">
                    <a:solidFill>
                      <a:srgbClr val="227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ay"/>
                        </a:rPr>
                        <a:t>valid_to</a:t>
                      </a:r>
                    </a:p>
                  </a:txBody>
                  <a:tcPr anchor="ctr" marL="73152" marT="18288" marB="18288">
                    <a:solidFill>
                      <a:srgbClr val="227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lay"/>
                        </a:rPr>
                        <a:t>is_current</a:t>
                      </a:r>
                    </a:p>
                  </a:txBody>
                  <a:tcPr anchor="ctr" marL="73152" marT="18288" marB="18288">
                    <a:solidFill>
                      <a:srgbClr val="2272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Alice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Moscow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t0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t3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Alicia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Moscow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t3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47A1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Bob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Saint Petersburg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t0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Bob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Novosibirsk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47A1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Carol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Kazan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t0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t4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95959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Dave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Yekaterinburg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t1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D47A1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anchor="ctr" marL="73152" marT="18288" marB="18288"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30568" y="1371600"/>
            <a:ext cx="47941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Play"/>
              </a:rPr>
              <a:t>Time Travel (§9)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0568" y="1874519"/>
            <a:ext cx="4794199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00000"/>
                </a:solidFill>
                <a:latin typeface="Arial"/>
              </a:rPr>
              <a:t>Читаем таблицу на прошлый снапшот — физическая история файлов Iceberg, в отличие от логической SCD2.
</a:t>
            </a:r>
          </a:p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2272FF"/>
                </a:solidFill>
                <a:latin typeface="Consolas"/>
              </a:rPr>
              <a:t>FOR VERSION AS OF</a:t>
            </a:r>
            <a:r>
              <a:rPr sz="1350" b="0" i="0">
                <a:solidFill>
                  <a:srgbClr val="000000"/>
                </a:solidFill>
                <a:latin typeface="Arial"/>
              </a:rPr>
              <a:t> — по номеру снапшота.
</a:t>
            </a:r>
          </a:p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2272FF"/>
                </a:solidFill>
                <a:latin typeface="Consolas"/>
              </a:rPr>
              <a:t>FOR TIMESTAMP AS OF</a:t>
            </a:r>
            <a:r>
              <a:rPr sz="1350" b="0" i="0">
                <a:solidFill>
                  <a:srgbClr val="000000"/>
                </a:solidFill>
                <a:latin typeface="Arial"/>
              </a:rPr>
              <a:t> — по моменту времени.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0568" y="4069080"/>
            <a:ext cx="479419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595959"/>
                </a:solidFill>
                <a:latin typeface="Arial"/>
              </a:rPr>
              <a:t>Проверка: </a:t>
            </a:r>
            <a:r>
              <a:rPr sz="1350" b="0" i="0">
                <a:solidFill>
                  <a:srgbClr val="595959"/>
                </a:solidFill>
                <a:latin typeface="Arial"/>
              </a:rPr>
              <a:t>состояние таблицы до и после UPDATE совпадает с ожидаемым («данные тогда»).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Гайд 4 · SCD Type 2 на CDC-потоке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72FF"/>
                </a:solidFill>
                <a:latin typeface="Play"/>
              </a:rPr>
              <a:t>ИТОГИ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46304" cy="402336"/>
          </a:xfrm>
          <a:prstGeom prst="rect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621792"/>
            <a:ext cx="10765231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Play"/>
              </a:rPr>
              <a:t>Критерий готовности к защите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1057839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475488" cy="47548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ay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600200"/>
            <a:ext cx="986911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Схема SCD2 сформирована: valid_from / valid_to / is_current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11057839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761488"/>
            <a:ext cx="475488" cy="47548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624328"/>
            <a:ext cx="986911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UPDATE в PostgreSQL порождает новую версию в Iceberg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648456"/>
            <a:ext cx="11057839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785616"/>
            <a:ext cx="475488" cy="47548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ay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648456"/>
            <a:ext cx="986911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Time Travel читает состояние до и после изменения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672584"/>
            <a:ext cx="11057839" cy="749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4809744"/>
            <a:ext cx="475488" cy="475488"/>
          </a:xfrm>
          <a:prstGeom prst="ellipse">
            <a:avLst/>
          </a:prstGeom>
          <a:solidFill>
            <a:srgbClr val="227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Play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672584"/>
            <a:ext cx="986911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Уборка (§13): контейнеры, warehouse scd и бакет удалены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97103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272FF"/>
                </a:solidFill>
                <a:latin typeface="Play"/>
              </a:rPr>
              <a:t>Конвейер: PostgreSQL → Debezium → Kafka → Spark → Iceberg → Trino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Гайд 4 · SCD Type 2 на CDC-потоке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